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ReviewLens Product Review Insight use case and the goal of turning feedback into business 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business question and be transparent about the scope of the available dataset.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Describe the cleaning steps. Counts are taken from the user's executed Python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descriptive metrics are from the actual output. Emphasize correlation/label alignment, not causation.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Recommendations are proposed actions based on review analytics; test and measure their effect.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that several use-case questions require additional linked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the main result and the need for operational data to complete the full business brief.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09728" cy="4480560"/>
          </a:xfrm>
          <a:prstGeom prst="rect">
            <a:avLst/>
          </a:prstGeom>
          <a:solidFill>
            <a:srgbClr val="1C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234440"/>
            <a:ext cx="98755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4000" b="1">
                <a:solidFill>
                  <a:srgbClr val="FFFFFF"/>
                </a:solidFill>
              </a:defRPr>
            </a:pPr>
            <a:r>
              <a:t>PRODUCT REVIEW</a:t>
            </a:r>
            <a:br/>
            <a:r>
              <a:t>INSIGHT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38328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C8DCEC"/>
                </a:solidFill>
              </a:defRPr>
            </a:pPr>
            <a:r>
              <a:t>Understand Feedback. Discover Satisfaction Drivers. Improve Experience.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4754880"/>
            <a:ext cx="8686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ReviewLens Commerce Analytics  |  DS Sprint – Skill Based Assessment 2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0972800" cy="22860"/>
          </a:xfrm>
          <a:prstGeom prst="rect">
            <a:avLst/>
          </a:prstGeom>
          <a:solidFill>
            <a:srgbClr val="1C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6565392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A76"/>
                </a:solidFill>
              </a:defRPr>
            </a:pPr>
            <a:r>
              <a:t>ReviewLens Commerce Analytics  •  Product Review Insight                                    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C4B"/>
                </a:solidFill>
              </a:defRPr>
            </a:pPr>
            <a:r>
              <a:t>Business Problem &amp;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A76"/>
                </a:solidFill>
              </a:defRPr>
            </a:pPr>
            <a:r>
              <a:t>Use Case 26 • E-Commerce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515600" cy="438912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2A3441"/>
                </a:solidFill>
              </a:defRPr>
            </a:pPr>
            <a:r>
              <a:t>Business question: What patterns in ratings and review information explain customer satisfaction?</a:t>
            </a:r>
          </a:p>
          <a:p>
            <a:pPr>
              <a:spcAft>
                <a:spcPts val="1500"/>
              </a:spcAft>
              <a:defRPr sz="1900">
                <a:solidFill>
                  <a:srgbClr val="2A3441"/>
                </a:solidFill>
              </a:defRPr>
            </a:pPr>
            <a:r>
              <a:t>Analyze product ratings, review text, sentiment, and product prices to identify satisfaction signals.</a:t>
            </a:r>
          </a:p>
          <a:p>
            <a:pPr>
              <a:spcAft>
                <a:spcPts val="1500"/>
              </a:spcAft>
              <a:defRPr sz="1900">
                <a:solidFill>
                  <a:srgbClr val="2A3441"/>
                </a:solidFill>
              </a:defRPr>
            </a:pPr>
            <a:r>
              <a:t>Translate evidence into practical actions for product quality, product information, and customer experience.</a:t>
            </a:r>
          </a:p>
          <a:p>
            <a:pPr>
              <a:spcAft>
                <a:spcPts val="1500"/>
              </a:spcAft>
              <a:defRPr sz="1900">
                <a:solidFill>
                  <a:srgbClr val="2A3441"/>
                </a:solidFill>
              </a:defRPr>
            </a:pPr>
            <a:r>
              <a:t>Scope note: the selected Kaggle dataset does not contain delivery, seller, return, or support-ticket fields.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0972800" cy="22860"/>
          </a:xfrm>
          <a:prstGeom prst="rect">
            <a:avLst/>
          </a:prstGeom>
          <a:solidFill>
            <a:srgbClr val="1C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65392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A76"/>
                </a:solidFill>
              </a:defRPr>
            </a:pPr>
            <a:r>
              <a:t>ReviewLens Commerce Analytics  •  Product Review Insight                                    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C4B"/>
                </a:solidFill>
              </a:defRPr>
            </a:pPr>
            <a:r>
              <a:t>Dataset &amp;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A76"/>
                </a:solidFill>
              </a:defRPr>
            </a:pPr>
            <a:r>
              <a:t>Kaggle Dataset-SA.csv • six original columns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2468880" cy="1325880"/>
          </a:xfrm>
          <a:prstGeom prst="roundRect">
            <a:avLst/>
          </a:prstGeom>
          <a:solidFill>
            <a:srgbClr val="EFF5FB"/>
          </a:solidFill>
          <a:ln>
            <a:solidFill>
              <a:srgbClr val="D2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783080"/>
            <a:ext cx="2240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3269AA"/>
                </a:solidFill>
              </a:defRPr>
            </a:pPr>
            <a:r>
              <a:t>205,052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331720"/>
            <a:ext cx="2240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2A3441"/>
                </a:solidFill>
              </a:defRPr>
            </a:pPr>
            <a:r>
              <a:t>Original records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600200"/>
            <a:ext cx="2468880" cy="1325880"/>
          </a:xfrm>
          <a:prstGeom prst="roundRect">
            <a:avLst/>
          </a:prstGeom>
          <a:solidFill>
            <a:srgbClr val="EFF5FB"/>
          </a:solidFill>
          <a:ln>
            <a:solidFill>
              <a:srgbClr val="D2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75888" y="1783080"/>
            <a:ext cx="2240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3269AA"/>
                </a:solidFill>
              </a:defRPr>
            </a:pPr>
            <a:r>
              <a:t>170,674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75888" y="2331720"/>
            <a:ext cx="2240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2A3441"/>
                </a:solidFill>
              </a:defRPr>
            </a:pPr>
            <a:r>
              <a:t>Rows after cleaning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600200"/>
            <a:ext cx="2468880" cy="1325880"/>
          </a:xfrm>
          <a:prstGeom prst="roundRect">
            <a:avLst/>
          </a:prstGeom>
          <a:solidFill>
            <a:srgbClr val="EFF5FB"/>
          </a:solidFill>
          <a:ln>
            <a:solidFill>
              <a:srgbClr val="D2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1783080"/>
            <a:ext cx="2240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3269AA"/>
                </a:solidFill>
              </a:defRPr>
            </a:pPr>
            <a:r>
              <a:t>34,375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2331720"/>
            <a:ext cx="2240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2A3441"/>
                </a:solidFill>
              </a:defRPr>
            </a:pPr>
            <a:r>
              <a:t>Exact duplicate rows removed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1600200"/>
            <a:ext cx="2468880" cy="1325880"/>
          </a:xfrm>
          <a:prstGeom prst="roundRect">
            <a:avLst/>
          </a:prstGeom>
          <a:solidFill>
            <a:srgbClr val="EFF5FB"/>
          </a:solidFill>
          <a:ln>
            <a:solidFill>
              <a:srgbClr val="D2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45168" y="1783080"/>
            <a:ext cx="2240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3269AA"/>
                </a:solidFill>
              </a:defRPr>
            </a:pPr>
            <a:r>
              <a:t>573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45168" y="2331720"/>
            <a:ext cx="2240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2A3441"/>
                </a:solidFill>
              </a:defRPr>
            </a:pPr>
            <a:r>
              <a:t>Long reviews flagged</a:t>
            </a:r>
          </a:p>
        </p:txBody>
      </p:sp>
      <p:pic>
        <p:nvPicPr>
          <p:cNvPr id="17" name="Picture 16" descr="dataset_prepa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3246120"/>
            <a:ext cx="5486400" cy="313508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858000" y="3429000"/>
            <a:ext cx="4480560" cy="237744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500"/>
              </a:spcAft>
              <a:defRPr sz="1600">
                <a:solidFill>
                  <a:srgbClr val="2A3441"/>
                </a:solidFill>
              </a:defRPr>
            </a:pPr>
            <a:r>
              <a:t>Missing review text was retained for rating analysis.</a:t>
            </a:r>
          </a:p>
          <a:p>
            <a:pPr>
              <a:spcAft>
                <a:spcPts val="1500"/>
              </a:spcAft>
              <a:defRPr sz="1600">
                <a:solidFill>
                  <a:srgbClr val="2A3441"/>
                </a:solidFill>
              </a:defRPr>
            </a:pPr>
            <a:r>
              <a:t>Price and rating were converted to numeric types.</a:t>
            </a:r>
          </a:p>
          <a:p>
            <a:pPr>
              <a:spcAft>
                <a:spcPts val="1500"/>
              </a:spcAft>
              <a:defRPr sz="1600">
                <a:solidFill>
                  <a:srgbClr val="2A3441"/>
                </a:solidFill>
              </a:defRPr>
            </a:pPr>
            <a:r>
              <a:t>The cleaned output contains 10 columns, including engineered fields.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6510528"/>
            <a:ext cx="10972800" cy="22860"/>
          </a:xfrm>
          <a:prstGeom prst="rect">
            <a:avLst/>
          </a:prstGeom>
          <a:solidFill>
            <a:srgbClr val="1C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6565392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A76"/>
                </a:solidFill>
              </a:defRPr>
            </a:pPr>
            <a:r>
              <a:t>ReviewLens Commerce Analytics  •  Product Review Insight                                    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C4B"/>
                </a:solidFill>
              </a:defRPr>
            </a:pPr>
            <a:r>
              <a:t>Key Finding: Ratings by Sentiment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A76"/>
                </a:solidFill>
              </a:defRPr>
            </a:pPr>
            <a:r>
              <a:t>Calculated from the cleaned dataset</a:t>
            </a:r>
          </a:p>
        </p:txBody>
      </p:sp>
      <p:pic>
        <p:nvPicPr>
          <p:cNvPr id="5" name="Picture 4" descr="average_rating_by_senti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17320"/>
            <a:ext cx="6126480" cy="350084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03720" y="1600200"/>
            <a:ext cx="4480560" cy="438912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500"/>
              </a:spcAft>
              <a:defRPr sz="1600">
                <a:solidFill>
                  <a:srgbClr val="2A3441"/>
                </a:solidFill>
              </a:defRPr>
            </a:pPr>
            <a:r>
              <a:t>Positive: 134,699 reviews; average rating 4.60/5; median 5.</a:t>
            </a:r>
          </a:p>
          <a:p>
            <a:pPr>
              <a:spcAft>
                <a:spcPts val="1500"/>
              </a:spcAft>
              <a:defRPr sz="1600">
                <a:solidFill>
                  <a:srgbClr val="2A3441"/>
                </a:solidFill>
              </a:defRPr>
            </a:pPr>
            <a:r>
              <a:t>Neutral: 9,503 reviews; average rating 3.28/5; median 3.</a:t>
            </a:r>
          </a:p>
          <a:p>
            <a:pPr>
              <a:spcAft>
                <a:spcPts val="1500"/>
              </a:spcAft>
              <a:defRPr sz="1600">
                <a:solidFill>
                  <a:srgbClr val="2A3441"/>
                </a:solidFill>
              </a:defRPr>
            </a:pPr>
            <a:r>
              <a:t>Negative: 26,472 reviews; average rating 1.61/5; median 1.</a:t>
            </a:r>
          </a:p>
          <a:p>
            <a:pPr>
              <a:spcAft>
                <a:spcPts val="1500"/>
              </a:spcAft>
              <a:defRPr sz="1600">
                <a:solidFill>
                  <a:srgbClr val="2A3441"/>
                </a:solidFill>
              </a:defRPr>
            </a:pPr>
            <a:r>
              <a:t>Interpretation: sentiment labels align strongly with ratings in this dataset; this is descriptive, not causal evidence.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0972800" cy="22860"/>
          </a:xfrm>
          <a:prstGeom prst="rect">
            <a:avLst/>
          </a:prstGeom>
          <a:solidFill>
            <a:srgbClr val="1C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6565392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A76"/>
                </a:solidFill>
              </a:defRPr>
            </a:pPr>
            <a:r>
              <a:t>ReviewLens Commerce Analytics  •  Product Review Insight                                    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C4B"/>
                </a:solidFill>
              </a:defRPr>
            </a:pPr>
            <a:r>
              <a:t>Customer Experience Priorities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A76"/>
                </a:solidFill>
              </a:defRPr>
            </a:pPr>
            <a:r>
              <a:t>Recommendations to test against the review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515600" cy="438912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2A3441"/>
                </a:solidFill>
              </a:defRPr>
            </a:pPr>
            <a:r>
              <a:t>Prioritize low-rated reviews: group negative review text into recurring themes and investigate the most frequent issues.</a:t>
            </a:r>
          </a:p>
          <a:p>
            <a:pPr>
              <a:spcAft>
                <a:spcPts val="1500"/>
              </a:spcAft>
              <a:defRPr sz="1900">
                <a:solidFill>
                  <a:srgbClr val="2A3441"/>
                </a:solidFill>
              </a:defRPr>
            </a:pPr>
            <a:r>
              <a:t>Review product pages: clarify specifications, compatibility, sizing, and product limitations where feedback indicates confusion.</a:t>
            </a:r>
          </a:p>
          <a:p>
            <a:pPr>
              <a:spcAft>
                <a:spcPts val="1500"/>
              </a:spcAft>
              <a:defRPr sz="1900">
                <a:solidFill>
                  <a:srgbClr val="2A3441"/>
                </a:solidFill>
              </a:defRPr>
            </a:pPr>
            <a:r>
              <a:t>Create a product watchlist: flag products with enough reviews and consistently low average ratings for quality checks.</a:t>
            </a:r>
          </a:p>
          <a:p>
            <a:pPr>
              <a:spcAft>
                <a:spcPts val="1500"/>
              </a:spcAft>
              <a:defRPr sz="1900">
                <a:solidFill>
                  <a:srgbClr val="2A3441"/>
                </a:solidFill>
              </a:defRPr>
            </a:pPr>
            <a:r>
              <a:t>Track improvements over time: compare ratings and negative-review share before and after changes.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0972800" cy="22860"/>
          </a:xfrm>
          <a:prstGeom prst="rect">
            <a:avLst/>
          </a:prstGeom>
          <a:solidFill>
            <a:srgbClr val="1C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65392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A76"/>
                </a:solidFill>
              </a:defRPr>
            </a:pPr>
            <a:r>
              <a:t>ReviewLens Commerce Analytics  •  Product Review Insight                                    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C4B"/>
                </a:solidFill>
              </a:defRPr>
            </a:pPr>
            <a:r>
              <a:t>Limitations &amp; Next Data Needed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A76"/>
                </a:solidFill>
              </a:defRPr>
            </a:pPr>
            <a:r>
              <a:t>Avoid conclusions unsupported by the current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515600" cy="438912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2A3441"/>
                </a:solidFill>
              </a:defRPr>
            </a:pPr>
            <a:r>
              <a:t>The current dataset contains product name, price, rating, review, summary, and sentiment.</a:t>
            </a:r>
          </a:p>
          <a:p>
            <a:pPr>
              <a:spcAft>
                <a:spcPts val="1500"/>
              </a:spcAft>
              <a:defRPr sz="1800">
                <a:solidFill>
                  <a:srgbClr val="2A3441"/>
                </a:solidFill>
              </a:defRPr>
            </a:pPr>
            <a:r>
              <a:t>It cannot directly test verified-review differences, delivery time, seller-level trends, returns, or complaint-resolution patterns.</a:t>
            </a:r>
          </a:p>
          <a:p>
            <a:pPr>
              <a:spcAft>
                <a:spcPts val="1500"/>
              </a:spcAft>
              <a:defRPr sz="1800">
                <a:solidFill>
                  <a:srgbClr val="2A3441"/>
                </a:solidFill>
              </a:defRPr>
            </a:pPr>
            <a:r>
              <a:t>To answer the full business brief, obtain the original linked reviews/products/sellers/orders/support files from the instructor or an authorized source.</a:t>
            </a:r>
          </a:p>
          <a:p>
            <a:pPr>
              <a:spcAft>
                <a:spcPts val="1500"/>
              </a:spcAft>
              <a:defRPr sz="1800">
                <a:solidFill>
                  <a:srgbClr val="2A3441"/>
                </a:solidFill>
              </a:defRPr>
            </a:pPr>
            <a:r>
              <a:t>Do not treat simulated supplementary fields as real customer evidence; clearly label any simulated data.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0972800" cy="22860"/>
          </a:xfrm>
          <a:prstGeom prst="rect">
            <a:avLst/>
          </a:prstGeom>
          <a:solidFill>
            <a:srgbClr val="1C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65392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A76"/>
                </a:solidFill>
              </a:defRPr>
            </a:pPr>
            <a:r>
              <a:t>ReviewLens Commerce Analytics  •  Product Review Insight                                    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241280" cy="338328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2A3441"/>
                </a:solidFill>
              </a:defRPr>
            </a:pPr>
            <a:r>
              <a:t>The cleaned dataset contains 170,674 review records and shows a 4.06/5 overall average rating.</a:t>
            </a:r>
          </a:p>
          <a:p>
            <a:pPr>
              <a:spcAft>
                <a:spcPts val="1500"/>
              </a:spcAft>
              <a:defRPr sz="2100">
                <a:solidFill>
                  <a:srgbClr val="2A3441"/>
                </a:solidFill>
              </a:defRPr>
            </a:pPr>
            <a:r>
              <a:t>Ratings differ substantially across sentiment groups, making negative feedback a useful priority for investigation.</a:t>
            </a:r>
          </a:p>
          <a:p>
            <a:pPr>
              <a:spcAft>
                <a:spcPts val="1500"/>
              </a:spcAft>
              <a:defRPr sz="2100">
                <a:solidFill>
                  <a:srgbClr val="2A3441"/>
                </a:solidFill>
              </a:defRPr>
            </a:pPr>
            <a:r>
              <a:t>Next step: combine verified operational data with reviews to evaluate delivery, sellers, returns, and support.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22860"/>
          </a:xfrm>
          <a:prstGeom prst="rect">
            <a:avLst/>
          </a:prstGeom>
          <a:solidFill>
            <a:srgbClr val="1C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65392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A76"/>
                </a:solidFill>
              </a:defRPr>
            </a:pPr>
            <a:r>
              <a:t>ReviewLens Commerce Analytics  •  Product Review Insight                                     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