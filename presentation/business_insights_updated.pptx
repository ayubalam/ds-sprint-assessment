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5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ReviewLens Product Review Insight use case and the goal of turning feedback into business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business question and be transparent about the scope of the available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cleaning steps. Counts are taken from the user's executed Python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descriptive metrics are from the actual output. Emphasize correlation/label alignment, not causation.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Recommendations are proposed actions based on review analytics; test and measure their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several use-case questions require additional linked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main result and the need for operational data to complete the full business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" cy="44805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234440"/>
            <a:ext cx="9875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PRODUCT REVIEW</a:t>
            </a:r>
            <a:br/>
            <a:r>
              <a:t>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3832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DCEC"/>
                </a:solidFill>
              </a:defRPr>
            </a:pPr>
            <a:r>
              <a:t>Understand Feedback. Discover Satisfaction Drivers. Improve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75488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ReviewLens Commerce Analytics  |  DS Sprint – Skill Based Assessment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B"/>
                </a:solidFill>
              </a:defRPr>
            </a:pPr>
            <a:r>
              <a:t>Business 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6"/>
                </a:solidFill>
              </a:defRPr>
            </a:pPr>
            <a:r>
              <a:t>Use Case 26 • E-Commerce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Business question: What patterns in ratings and review information explain customer satisfaction?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Analyze product ratings, review text, sentiment, and product prices to identify satisfaction signals.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Translate evidence into practical actions for product quality, product information, and customer experience.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Scope note: the selected Kaggle dataset does not contain delivery, seller, return, or support-ticket fields.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B"/>
                </a:solidFill>
              </a:defRPr>
            </a:pPr>
            <a:r>
              <a:t>Dataset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6"/>
                </a:solidFill>
              </a:defRPr>
            </a:pPr>
            <a:r>
              <a:t>Kaggle Dataset-SA.csv • six original columns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246888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269AA"/>
                </a:solidFill>
              </a:defRPr>
            </a:pPr>
            <a:r>
              <a:t>205,052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3172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A3441"/>
                </a:solidFill>
              </a:defRPr>
            </a:pPr>
            <a:r>
              <a:t>Original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00200"/>
            <a:ext cx="246888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17830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269AA"/>
                </a:solidFill>
              </a:defRPr>
            </a:pPr>
            <a:r>
              <a:t>170,674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8" y="233172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A3441"/>
                </a:solidFill>
              </a:defRPr>
            </a:pPr>
            <a:r>
              <a:t>Rows after cleaning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246888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7830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269AA"/>
                </a:solidFill>
              </a:defRPr>
            </a:pPr>
            <a:r>
              <a:t>34,375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33172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A3441"/>
                </a:solidFill>
              </a:defRPr>
            </a:pPr>
            <a:r>
              <a:t>Exact duplicate rows removed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00200"/>
            <a:ext cx="246888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2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5168" y="178308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269AA"/>
                </a:solidFill>
              </a:defRPr>
            </a:pPr>
            <a:r>
              <a:t>573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233172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A3441"/>
                </a:solidFill>
              </a:defRPr>
            </a:pPr>
            <a:r>
              <a:t>Long reviews flagged</a:t>
            </a:r>
          </a:p>
        </p:txBody>
      </p:sp>
      <p:pic>
        <p:nvPicPr>
          <p:cNvPr id="17" name="Picture 16" descr="dataset_prepa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246120"/>
            <a:ext cx="5486400" cy="313508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0" y="3429000"/>
            <a:ext cx="4480560" cy="237744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Missing review text was retained for rating analysis.</a:t>
            </a:r>
          </a:p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Price and rating were converted to numeric types.</a:t>
            </a:r>
          </a:p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The cleaned output contains 10 columns, including engineered fields.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B"/>
                </a:solidFill>
              </a:defRPr>
            </a:pPr>
            <a:r>
              <a:t>Key Finding: Ratings by 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6"/>
                </a:solidFill>
              </a:defRPr>
            </a:pPr>
            <a:r>
              <a:t>Calculated from the cleaned dataset</a:t>
            </a:r>
          </a:p>
        </p:txBody>
      </p:sp>
      <p:pic>
        <p:nvPicPr>
          <p:cNvPr id="5" name="Picture 4" descr="average_rating_by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126480" cy="35008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3720" y="1600200"/>
            <a:ext cx="448056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Positive: 134,699 reviews; average rating 4.60/5; median 5.</a:t>
            </a:r>
          </a:p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Neutral: 9,503 reviews; average rating 3.28/5; median 3.</a:t>
            </a:r>
          </a:p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Negative: 26,472 reviews; average rating 1.61/5; median 1.</a:t>
            </a:r>
          </a:p>
          <a:p>
            <a:pPr>
              <a:spcAft>
                <a:spcPts val="1500"/>
              </a:spcAft>
              <a:defRPr sz="1600">
                <a:solidFill>
                  <a:srgbClr val="2A3441"/>
                </a:solidFill>
              </a:defRPr>
            </a:pPr>
            <a:r>
              <a:t>Interpretation: sentiment labels align strongly with ratings in this dataset; this is descriptive, not causal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B"/>
                </a:solidFill>
              </a:defRPr>
            </a:pPr>
            <a:r>
              <a:t>Customer Experience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6"/>
                </a:solidFill>
              </a:defRPr>
            </a:pPr>
            <a:r>
              <a:t>Recommendations to test against the review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Prioritize low-rated reviews: group negative review text into recurring themes and investigate the most frequent issues.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Review product pages: clarify specifications, compatibility, sizing, and product limitations where feedback indicates confusion.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Create a product watchlist: flag products with enough reviews and consistently low average ratings for quality checks.</a:t>
            </a:r>
          </a:p>
          <a:p>
            <a:pPr>
              <a:spcAft>
                <a:spcPts val="1500"/>
              </a:spcAft>
              <a:defRPr sz="1900">
                <a:solidFill>
                  <a:srgbClr val="2A3441"/>
                </a:solidFill>
              </a:defRPr>
            </a:pPr>
            <a:r>
              <a:t>Track improvements over time: compare ratings and negative-review share before and after changes.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C4B"/>
                </a:solidFill>
              </a:defRPr>
            </a:pPr>
            <a:r>
              <a:t>Limitations &amp; Next Data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A76"/>
                </a:solidFill>
              </a:defRPr>
            </a:pPr>
            <a:r>
              <a:t>Avoid conclusions unsupported by the current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</a:defRPr>
            </a:pPr>
            <a:r>
              <a:t>The current dataset contains product name, price, rating, review, summary, and sentiment.</a:t>
            </a:r>
          </a:p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</a:defRPr>
            </a:pPr>
            <a:r>
              <a:t>It cannot directly test verified-review differences, delivery time, seller-level trends, returns, or complaint-resolution patterns.</a:t>
            </a:r>
          </a:p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</a:defRPr>
            </a:pPr>
            <a:r>
              <a:t>To answer the full business brief, obtain the original linked reviews/products/sellers/orders/support files from the instructor or an authorized source.</a:t>
            </a:r>
          </a:p>
          <a:p>
            <a:pPr>
              <a:spcAft>
                <a:spcPts val="1500"/>
              </a:spcAft>
              <a:defRPr sz="1800">
                <a:solidFill>
                  <a:srgbClr val="2A3441"/>
                </a:solidFill>
              </a:defRPr>
            </a:pPr>
            <a:r>
              <a:t>Do not treat simulated supplementary fields as real customer evidence; clearly label any simulated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241280" cy="33832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</a:defRPr>
            </a:pPr>
            <a:r>
              <a:t>The cleaned dataset contains 170,674 review records and shows a 4.06/5 overall average rating.</a:t>
            </a:r>
          </a:p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</a:defRPr>
            </a:pPr>
            <a:r>
              <a:t>Ratings differ substantially across sentiment groups, making negative feedback a useful priority for investigation.</a:t>
            </a:r>
          </a:p>
          <a:p>
            <a:pPr>
              <a:spcAft>
                <a:spcPts val="1500"/>
              </a:spcAft>
              <a:defRPr sz="2100">
                <a:solidFill>
                  <a:srgbClr val="2A3441"/>
                </a:solidFill>
              </a:defRPr>
            </a:pPr>
            <a:r>
              <a:t>Next step: combine verified operational data with reviews to evaluate delivery, sellers, returns, and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22860"/>
          </a:xfrm>
          <a:prstGeom prst="rect">
            <a:avLst/>
          </a:prstGeom>
          <a:solidFill>
            <a:srgbClr val="1C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A76"/>
                </a:solidFill>
              </a:defRPr>
            </a:pPr>
            <a:r>
              <a:t>ReviewLens Commerce Analytics  •  Product Review Insight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t>Machine Learning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A646E"/>
                </a:solidFill>
                <a:latin typeface="Aptos"/>
              </a:defRPr>
            </a:pPr>
            <a:r>
              <a:t>TF-IDF + Logistic Regression • Three-class sentiment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3246120" cy="1234440"/>
          </a:xfrm>
          <a:prstGeom prst="rect">
            <a:avLst/>
          </a:prstGeom>
          <a:solidFill>
            <a:srgbClr val="F0F5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646E"/>
                </a:solidFill>
                <a:latin typeface="Aptos"/>
              </a:defRPr>
            </a:pPr>
            <a:r>
              <a:t>ACCURACY</a:t>
            </a:r>
          </a:p>
          <a:p>
            <a:pPr algn="ctr">
              <a:defRPr sz="2600" b="1">
                <a:solidFill>
                  <a:srgbClr val="4472C4"/>
                </a:solidFill>
                <a:latin typeface="Aptos Display"/>
              </a:defRPr>
            </a:pPr>
            <a:r>
              <a:t>89.47%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0520" y="1481328"/>
            <a:ext cx="3246120" cy="1234440"/>
          </a:xfrm>
          <a:prstGeom prst="rect">
            <a:avLst/>
          </a:prstGeom>
          <a:solidFill>
            <a:srgbClr val="F0F5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646E"/>
                </a:solidFill>
                <a:latin typeface="Aptos"/>
              </a:defRPr>
            </a:pPr>
            <a:r>
              <a:t>MACRO F1-SCORE</a:t>
            </a:r>
          </a:p>
          <a:p>
            <a:pPr algn="ctr">
              <a:defRPr sz="2600" b="1">
                <a:solidFill>
                  <a:srgbClr val="1F4E79"/>
                </a:solidFill>
                <a:latin typeface="Aptos Display"/>
              </a:defRPr>
            </a:pPr>
            <a:r>
              <a:t>0.7619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1481328"/>
            <a:ext cx="3246120" cy="1234440"/>
          </a:xfrm>
          <a:prstGeom prst="rect">
            <a:avLst/>
          </a:prstGeom>
          <a:solidFill>
            <a:srgbClr val="F0F5FA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5A646E"/>
                </a:solidFill>
                <a:latin typeface="Aptos"/>
              </a:defRPr>
            </a:pPr>
            <a:r>
              <a:t>WEIGHTED F1-SCORE</a:t>
            </a:r>
          </a:p>
          <a:p>
            <a:pPr algn="ctr">
              <a:defRPr sz="2600" b="1">
                <a:solidFill>
                  <a:srgbClr val="70AD47"/>
                </a:solidFill>
                <a:latin typeface="Aptos Display"/>
              </a:defRPr>
            </a:pPr>
            <a:r>
              <a:t>0.9076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E79"/>
                </a:solidFill>
                <a:latin typeface="Aptos"/>
              </a:defRPr>
            </a:pPr>
            <a:r>
              <a:t>Class-wise F1-score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456432"/>
          <a:ext cx="52120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4000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Sentiment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Positive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238"/>
                          </a:solidFill>
                          <a:latin typeface="Aptos"/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217920" y="3063240"/>
            <a:ext cx="5257800" cy="2423160"/>
          </a:xfrm>
          <a:prstGeom prst="rect">
            <a:avLst/>
          </a:prstGeom>
          <a:solidFill>
            <a:srgbClr val="F0F5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defRPr sz="1700" b="1">
                <a:solidFill>
                  <a:srgbClr val="1F4E79"/>
                </a:solidFill>
                <a:latin typeface="Aptos"/>
              </a:defRPr>
            </a:pPr>
            <a:r>
              <a:t>What the results mean</a:t>
            </a:r>
          </a:p>
          <a:p>
            <a:pPr>
              <a:spcBef>
                <a:spcPts val="800"/>
              </a:spcBef>
              <a:defRPr sz="1200" b="1">
                <a:solidFill>
                  <a:srgbClr val="263238"/>
                </a:solidFill>
                <a:latin typeface="Aptos"/>
              </a:defRPr>
            </a:pPr>
            <a:r>
              <a:t>Strong overall performance</a:t>
            </a:r>
          </a:p>
          <a:p>
            <a:pPr>
              <a:defRPr sz="1000">
                <a:solidFill>
                  <a:srgbClr val="5A646E"/>
                </a:solidFill>
                <a:latin typeface="Aptos"/>
              </a:defRPr>
            </a:pPr>
            <a:r>
              <a:t>The model classified 89.47% of the 34,135 held-out test records correctly.</a:t>
            </a:r>
          </a:p>
          <a:p>
            <a:pPr>
              <a:spcBef>
                <a:spcPts val="800"/>
              </a:spcBef>
              <a:defRPr sz="1200" b="1">
                <a:solidFill>
                  <a:srgbClr val="263238"/>
                </a:solidFill>
                <a:latin typeface="Aptos"/>
              </a:defRPr>
            </a:pPr>
            <a:r>
              <a:t>Neutral reviews are harder</a:t>
            </a:r>
          </a:p>
          <a:p>
            <a:pPr>
              <a:defRPr sz="1000">
                <a:solidFill>
                  <a:srgbClr val="5A646E"/>
                </a:solidFill>
                <a:latin typeface="Aptos"/>
              </a:defRPr>
            </a:pPr>
            <a:r>
              <a:t>Neutral sentiment achieved an F1-score of 0.47, below negative (0.87) and positive (0.95).</a:t>
            </a:r>
          </a:p>
          <a:p>
            <a:pPr>
              <a:spcBef>
                <a:spcPts val="800"/>
              </a:spcBef>
              <a:defRPr sz="1200" b="1">
                <a:solidFill>
                  <a:srgbClr val="263238"/>
                </a:solidFill>
                <a:latin typeface="Aptos"/>
              </a:defRPr>
            </a:pPr>
            <a:r>
              <a:t>Next improvement</a:t>
            </a:r>
          </a:p>
          <a:p>
            <a:pPr>
              <a:defRPr sz="1000">
                <a:solidFill>
                  <a:srgbClr val="5A646E"/>
                </a:solidFill>
                <a:latin typeface="Aptos"/>
              </a:defRPr>
            </a:pPr>
            <a:r>
              <a:t>Review ambiguous examples and consider improving neutral-class training data and features.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A646E"/>
                </a:solidFill>
                <a:latin typeface="Aptos"/>
              </a:defRPr>
            </a:pPr>
            <a:r>
              <a:t>Test split: 80/20 • 136,537 training records • 34,135 test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6510528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A646E"/>
                </a:solidFill>
                <a:latin typeface="Aptos"/>
              </a:defRPr>
            </a:pPr>
            <a:r>
              <a:t>ReviewLens Commerce Analytics  •  Product Review 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